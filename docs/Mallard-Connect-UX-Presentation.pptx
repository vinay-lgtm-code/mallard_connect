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6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Calibri"/>
              </a:defRPr>
            </a:pPr>
            <a:r>
              <a:t>MALLARD CONNECT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59E0B"/>
                </a:solidFill>
                <a:latin typeface="Calibri"/>
              </a:defRPr>
            </a:pPr>
            <a:r>
              <a:t>Lead Nurturing &amp; Follow-up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A lightweight pre-CRM that ensures no prospect falls through the cracks.</a:t>
            </a:r>
            <a:br/>
            <a:r>
              <a:t>Works alongside the Mortgage Advice Bureau Platform system.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108960"/>
            <a:ext cx="27432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DB3B0"/>
                </a:solidFill>
                <a:latin typeface="Calibri"/>
              </a:defRPr>
            </a:pPr>
            <a:r>
              <a:t>Mallard Mortgages, Sheffield UK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56692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DB3B0"/>
                </a:solidFill>
                <a:latin typeface="Calibri"/>
              </a:defRPr>
            </a:pPr>
            <a:r>
              <a:t>Built by Storyboard Digital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5653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18288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A1A1A"/>
                </a:solidFill>
                <a:latin typeface="Calibri"/>
              </a:defRPr>
            </a:pPr>
            <a:r>
              <a:t>Prospects who enquire but aren't ready to proceed are falling through the cracks.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017520"/>
            <a:ext cx="54864" cy="7315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30175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Calibri"/>
              </a:defRPr>
            </a:pPr>
            <a:r>
              <a:t>No structured follow-up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375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Advisers note "contact in January" but there's no system to make it happen.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114800"/>
            <a:ext cx="54864" cy="731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4114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Calibri"/>
              </a:defRPr>
            </a:pPr>
            <a:r>
              <a:t>No pipeline visibility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4348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Della can't see at a glance where each prospect sits or what the next action should be.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5212080"/>
            <a:ext cx="54864" cy="7315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52120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Calibri"/>
              </a:defRPr>
            </a:pPr>
            <a:r>
              <a:t>CRM is overkill (for now)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55321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A full CRM is too expensive and complex. They need something that works with what they have.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645920"/>
            <a:ext cx="4846320" cy="4389120"/>
          </a:xfrm>
          <a:prstGeom prst="roundRect">
            <a:avLst>
              <a:gd name="adj" fmla="val 3000"/>
            </a:avLst>
          </a:prstGeom>
          <a:solidFill>
            <a:srgbClr val="F0FDF4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192024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66534"/>
                </a:solidFill>
                <a:latin typeface="Calibri"/>
              </a:defRPr>
            </a:pPr>
            <a:r>
              <a:t>The Solution: Mallard Connect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468880"/>
            <a:ext cx="3931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66534"/>
                </a:solidFill>
                <a:latin typeface="Calibri"/>
              </a:defRPr>
            </a:pPr>
            <a:r>
              <a:t>  Structured follow-up reminders with email notifications to up to 3 recipients</a:t>
            </a:r>
          </a:p>
          <a:p>
            <a:pPr>
              <a:spcAft>
                <a:spcPts val="600"/>
              </a:spcAft>
              <a:defRPr sz="1300">
                <a:solidFill>
                  <a:srgbClr val="166534"/>
                </a:solidFill>
                <a:latin typeface="Calibri"/>
              </a:defRPr>
            </a:pPr>
            <a:r>
              <a:t>  Visual pipeline board showing every prospect's status at a glance</a:t>
            </a:r>
          </a:p>
          <a:p>
            <a:pPr>
              <a:spcAft>
                <a:spcPts val="600"/>
              </a:spcAft>
              <a:defRPr sz="1300">
                <a:solidFill>
                  <a:srgbClr val="166534"/>
                </a:solidFill>
                <a:latin typeface="Calibri"/>
              </a:defRPr>
            </a:pPr>
            <a:r>
              <a:t>  Daily 7am reminder emails so no lead is ever forgotten</a:t>
            </a:r>
          </a:p>
          <a:p>
            <a:pPr>
              <a:spcAft>
                <a:spcPts val="600"/>
              </a:spcAft>
              <a:defRPr sz="1300">
                <a:solidFill>
                  <a:srgbClr val="166534"/>
                </a:solidFill>
                <a:latin typeface="Calibri"/>
              </a:defRPr>
            </a:pPr>
            <a:r>
              <a:t>  MAB Platform CSV import with automatic deduplication</a:t>
            </a:r>
          </a:p>
          <a:p>
            <a:pPr>
              <a:spcAft>
                <a:spcPts val="600"/>
              </a:spcAft>
              <a:defRPr sz="1300">
                <a:solidFill>
                  <a:srgbClr val="166534"/>
                </a:solidFill>
                <a:latin typeface="Calibri"/>
              </a:defRPr>
            </a:pPr>
            <a:r>
              <a:t>  Mobile-optimized for salespeople in the field</a:t>
            </a:r>
          </a:p>
          <a:p>
            <a:pPr>
              <a:spcAft>
                <a:spcPts val="600"/>
              </a:spcAft>
              <a:defRPr sz="1300">
                <a:solidFill>
                  <a:srgbClr val="166534"/>
                </a:solidFill>
                <a:latin typeface="Calibri"/>
              </a:defRPr>
            </a:pPr>
            <a:r>
              <a:t>  Real-time team dashboard for Della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5653"/>
                </a:solidFill>
                <a:latin typeface="Calibri"/>
              </a:defRPr>
            </a:pPr>
            <a:r>
              <a:t>Three Personas, One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18288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3200400" cy="43891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1A5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57400" y="1920240"/>
            <a:ext cx="914400" cy="914400"/>
          </a:xfrm>
          <a:prstGeom prst="rect">
            <a:avLst/>
          </a:prstGeom>
          <a:solidFill>
            <a:srgbClr val="1A5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57400" y="21031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9260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1A"/>
                </a:solidFill>
                <a:latin typeface="Calibri"/>
              </a:defRPr>
            </a:pPr>
            <a:r>
              <a:t>Della Mallard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2918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Calibri"/>
              </a:defRPr>
            </a:pPr>
            <a:r>
              <a:t>Owner / Manager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749039"/>
            <a:ext cx="2468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6B7280"/>
                </a:solidFill>
                <a:latin typeface="Calibri"/>
              </a:defRPr>
            </a:pPr>
            <a:r>
              <a:t>  Sees everything at a glance</a:t>
            </a:r>
          </a:p>
          <a:p>
            <a:pPr>
              <a:spcAft>
                <a:spcPts val="600"/>
              </a:spcAft>
              <a:defRPr sz="1200">
                <a:solidFill>
                  <a:srgbClr val="6B7280"/>
                </a:solidFill>
                <a:latin typeface="Calibri"/>
              </a:defRPr>
            </a:pPr>
            <a:r>
              <a:t>  Pipeline health &amp; team performance</a:t>
            </a:r>
          </a:p>
          <a:p>
            <a:pPr>
              <a:spcAft>
                <a:spcPts val="600"/>
              </a:spcAft>
              <a:defRPr sz="1200">
                <a:solidFill>
                  <a:srgbClr val="6B7280"/>
                </a:solidFill>
                <a:latin typeface="Calibri"/>
              </a:defRPr>
            </a:pPr>
            <a:r>
              <a:t>  Assigns and rebalances leads</a:t>
            </a:r>
          </a:p>
          <a:p>
            <a:pPr>
              <a:spcAft>
                <a:spcPts val="600"/>
              </a:spcAft>
              <a:defRPr sz="1200">
                <a:solidFill>
                  <a:srgbClr val="6B7280"/>
                </a:solidFill>
                <a:latin typeface="Calibri"/>
              </a:defRPr>
            </a:pPr>
            <a:r>
              <a:t>  Imports from MAB Platform</a:t>
            </a:r>
          </a:p>
          <a:p>
            <a:pPr>
              <a:spcAft>
                <a:spcPts val="600"/>
              </a:spcAft>
              <a:defRPr sz="1200">
                <a:solidFill>
                  <a:srgbClr val="6B7280"/>
                </a:solidFill>
                <a:latin typeface="Calibri"/>
              </a:defRPr>
            </a:pPr>
            <a:r>
              <a:t>  Reports and KPIs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645920"/>
            <a:ext cx="3200400" cy="43891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23560" y="1920240"/>
            <a:ext cx="914400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23560" y="21031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9260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1A"/>
                </a:solidFill>
                <a:latin typeface="Calibri"/>
              </a:defRPr>
            </a:pPr>
            <a:r>
              <a:t>Office Salespeople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2918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Calibri"/>
              </a:defRPr>
            </a:pPr>
            <a:r>
              <a:t>Desktop / Laptop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3749039"/>
            <a:ext cx="2468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6B7280"/>
                </a:solidFill>
                <a:latin typeface="Calibri"/>
              </a:defRPr>
            </a:pPr>
            <a:r>
              <a:t>  Structured daily follow-up list</a:t>
            </a:r>
          </a:p>
          <a:p>
            <a:pPr>
              <a:spcAft>
                <a:spcPts val="600"/>
              </a:spcAft>
              <a:defRPr sz="1200">
                <a:solidFill>
                  <a:srgbClr val="6B7280"/>
                </a:solidFill>
                <a:latin typeface="Calibri"/>
              </a:defRPr>
            </a:pPr>
            <a:r>
              <a:t>  Fast lead capture (&lt;60 seconds)</a:t>
            </a:r>
          </a:p>
          <a:p>
            <a:pPr>
              <a:spcAft>
                <a:spcPts val="600"/>
              </a:spcAft>
              <a:defRPr sz="1200">
                <a:solidFill>
                  <a:srgbClr val="6B7280"/>
                </a:solidFill>
                <a:latin typeface="Calibri"/>
              </a:defRPr>
            </a:pPr>
            <a:r>
              <a:t>  Qualification workflow</a:t>
            </a:r>
          </a:p>
          <a:p>
            <a:pPr>
              <a:spcAft>
                <a:spcPts val="600"/>
              </a:spcAft>
              <a:defRPr sz="1200">
                <a:solidFill>
                  <a:srgbClr val="6B7280"/>
                </a:solidFill>
                <a:latin typeface="Calibri"/>
              </a:defRPr>
            </a:pPr>
            <a:r>
              <a:t>  Activity logging with reminders</a:t>
            </a:r>
          </a:p>
          <a:p>
            <a:pPr>
              <a:spcAft>
                <a:spcPts val="600"/>
              </a:spcAft>
              <a:defRPr sz="1200">
                <a:solidFill>
                  <a:srgbClr val="6B7280"/>
                </a:solidFill>
                <a:latin typeface="Calibri"/>
              </a:defRPr>
            </a:pPr>
            <a:r>
              <a:t>  Prospect detail with full timeline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645920"/>
            <a:ext cx="3200400" cy="43891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89720" y="1920240"/>
            <a:ext cx="914400" cy="914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20" y="21031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9260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1A"/>
                </a:solidFill>
                <a:latin typeface="Calibri"/>
              </a:defRPr>
            </a:pPr>
            <a:r>
              <a:t>Field Salespeople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2918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Calibri"/>
              </a:defRPr>
            </a:pPr>
            <a:r>
              <a:t>Mobile / On the Go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749039"/>
            <a:ext cx="2468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6B7280"/>
                </a:solidFill>
                <a:latin typeface="Calibri"/>
              </a:defRPr>
            </a:pPr>
            <a:r>
              <a:t>  15-second Quick Capture</a:t>
            </a:r>
          </a:p>
          <a:p>
            <a:pPr>
              <a:spcAft>
                <a:spcPts val="600"/>
              </a:spcAft>
              <a:defRPr sz="1200">
                <a:solidFill>
                  <a:srgbClr val="6B7280"/>
                </a:solidFill>
                <a:latin typeface="Calibri"/>
              </a:defRPr>
            </a:pPr>
            <a:r>
              <a:t>  Pre-meeting client review</a:t>
            </a:r>
          </a:p>
          <a:p>
            <a:pPr>
              <a:spcAft>
                <a:spcPts val="600"/>
              </a:spcAft>
              <a:defRPr sz="1200">
                <a:solidFill>
                  <a:srgbClr val="6B7280"/>
                </a:solidFill>
                <a:latin typeface="Calibri"/>
              </a:defRPr>
            </a:pPr>
            <a:r>
              <a:t>  Pipeline check between appointments</a:t>
            </a:r>
          </a:p>
          <a:p>
            <a:pPr>
              <a:spcAft>
                <a:spcPts val="600"/>
              </a:spcAft>
              <a:defRPr sz="1200">
                <a:solidFill>
                  <a:srgbClr val="6B7280"/>
                </a:solidFill>
                <a:latin typeface="Calibri"/>
              </a:defRPr>
            </a:pPr>
            <a:r>
              <a:t>  Tap-to-call from follow-up cards</a:t>
            </a:r>
          </a:p>
          <a:p>
            <a:pPr>
              <a:spcAft>
                <a:spcPts val="600"/>
              </a:spcAft>
              <a:defRPr sz="1200">
                <a:solidFill>
                  <a:srgbClr val="6B7280"/>
                </a:solidFill>
                <a:latin typeface="Calibri"/>
              </a:defRPr>
            </a:pPr>
            <a:r>
              <a:t>  Push notifications with quick actions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5653"/>
                </a:solidFill>
                <a:latin typeface="Calibri"/>
              </a:defRPr>
            </a:pPr>
            <a:r>
              <a:t>Pipeline Stages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18288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t>UK mortgage nurture process, designed around Mallard's specific pain points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86000"/>
            <a:ext cx="1234440" cy="1645920"/>
          </a:xfrm>
          <a:prstGeom prst="roundRect">
            <a:avLst>
              <a:gd name="adj" fmla="val 5000"/>
            </a:avLst>
          </a:prstGeom>
          <a:solidFill>
            <a:srgbClr val="E0E7FF"/>
          </a:solidFill>
          <a:ln w="127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51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338CA"/>
                </a:solidFill>
                <a:latin typeface="Calibri"/>
              </a:defRPr>
            </a:pPr>
            <a:r>
              <a:t>New</a:t>
            </a:r>
            <a:br/>
            <a:r>
              <a:t>Enquiry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1051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338CA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20" y="288036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728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57400" y="2286000"/>
            <a:ext cx="1234440" cy="164592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48840" y="2468880"/>
            <a:ext cx="1051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D4ED8"/>
                </a:solidFill>
                <a:latin typeface="Calibri"/>
              </a:defRPr>
            </a:pPr>
            <a:r>
              <a:t>Initial</a:t>
            </a:r>
            <a:br/>
            <a:r>
              <a:t>Contact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3200400"/>
            <a:ext cx="1051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D4ED8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88036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728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2286000"/>
            <a:ext cx="1234440" cy="164592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 w="381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2468880"/>
            <a:ext cx="1051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92400E"/>
                </a:solidFill>
                <a:latin typeface="Calibri"/>
              </a:defRPr>
            </a:pPr>
            <a:r>
              <a:t>Not Ready</a:t>
            </a:r>
            <a:br/>
            <a:r>
              <a:t>Yet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200400"/>
            <a:ext cx="1051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92400E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88036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728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92040" y="2286000"/>
            <a:ext cx="1234440" cy="164592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 w="127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83480" y="2468880"/>
            <a:ext cx="1051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66534"/>
                </a:solidFill>
                <a:latin typeface="Calibri"/>
              </a:defRPr>
            </a:pPr>
            <a:r>
              <a:t>Nurturing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3200400"/>
            <a:ext cx="1051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66534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288036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728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2286000"/>
            <a:ext cx="1234440" cy="164592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468880"/>
            <a:ext cx="1051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D4ED8"/>
                </a:solidFill>
                <a:latin typeface="Calibri"/>
              </a:defRPr>
            </a:pPr>
            <a:r>
              <a:t>Ready to</a:t>
            </a:r>
            <a:br/>
            <a:r>
              <a:t>Proceed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200400"/>
            <a:ext cx="1051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D4ED8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288036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728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26680" y="2286000"/>
            <a:ext cx="1234440" cy="1645920"/>
          </a:xfrm>
          <a:prstGeom prst="roundRect">
            <a:avLst>
              <a:gd name="adj" fmla="val 5000"/>
            </a:avLst>
          </a:prstGeom>
          <a:solidFill>
            <a:srgbClr val="FAF5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18120" y="2468880"/>
            <a:ext cx="1051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7C3AED"/>
                </a:solidFill>
                <a:latin typeface="Calibri"/>
              </a:defRPr>
            </a:pPr>
            <a:r>
              <a:t>Referred</a:t>
            </a:r>
            <a:br/>
            <a:r>
              <a:t>to MAB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3200400"/>
            <a:ext cx="1051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7C3AED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288036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728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0" y="2286000"/>
            <a:ext cx="1234440" cy="1645920"/>
          </a:xfrm>
          <a:prstGeom prst="roundRect">
            <a:avLst>
              <a:gd name="adj" fmla="val 5000"/>
            </a:avLst>
          </a:prstGeom>
          <a:solidFill>
            <a:srgbClr val="DCFCE7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35440" y="2468880"/>
            <a:ext cx="1051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2C55E"/>
                </a:solidFill>
                <a:latin typeface="Calibri"/>
              </a:defRPr>
            </a:pPr>
            <a:r>
              <a:t>Won /</a:t>
            </a:r>
            <a:br/>
            <a:r>
              <a:t>Completed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3200400"/>
            <a:ext cx="1051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2C55E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78440" y="288036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728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561320" y="2286000"/>
            <a:ext cx="1234440" cy="1645920"/>
          </a:xfrm>
          <a:prstGeom prst="roundRect">
            <a:avLst>
              <a:gd name="adj" fmla="val 5000"/>
            </a:avLst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652760" y="2468880"/>
            <a:ext cx="1051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C2626"/>
                </a:solidFill>
                <a:latin typeface="Calibri"/>
              </a:defRPr>
            </a:pPr>
            <a:r>
              <a:t>Lost /</a:t>
            </a:r>
            <a:br/>
            <a:r>
              <a:t>Gone Cold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52760" y="3200400"/>
            <a:ext cx="1051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DC2626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560320" y="4297680"/>
            <a:ext cx="6858000" cy="1097280"/>
          </a:xfrm>
          <a:prstGeom prst="roundRect">
            <a:avLst>
              <a:gd name="adj" fmla="val 3000"/>
            </a:avLst>
          </a:prstGeom>
          <a:solidFill>
            <a:srgbClr val="FEF3C7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34640" y="44348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2400E"/>
                </a:solidFill>
                <a:latin typeface="Calibri"/>
              </a:defRPr>
            </a:pPr>
            <a:r>
              <a:t>"Not Ready Yet" is a first-class stage — not an afterthought.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34640" y="48006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2400E"/>
                </a:solidFill>
                <a:latin typeface="Calibri"/>
              </a:defRPr>
            </a:pPr>
            <a:r>
              <a:t>This is where Mallard's leads currently fall through cracks. The system highlights it with amber borders, prominent follow-up scheduling, and supports 6-12 month reminder cycles.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5653"/>
                </a:solidFill>
                <a:latin typeface="Calibri"/>
              </a:defRPr>
            </a:pPr>
            <a:r>
              <a:t>Manager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960120"/>
            <a:ext cx="1463040" cy="320040"/>
          </a:xfrm>
          <a:prstGeom prst="roundRect">
            <a:avLst>
              <a:gd name="adj" fmla="val 30000"/>
            </a:avLst>
          </a:prstGeom>
          <a:solidFill>
            <a:srgbClr val="1A5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Della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960120"/>
            <a:ext cx="1097280" cy="320040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9601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Desktop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280"/>
                </a:solidFill>
                <a:latin typeface="Calibri"/>
              </a:defRPr>
            </a:pPr>
            <a:r>
              <a:t>Della sees everything at a glance — pipeline health, team performance, and which leads need attention.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Calibri"/>
              </a:defRPr>
            </a:pPr>
            <a:r>
              <a:t>Key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603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6B7280"/>
                </a:solidFill>
                <a:latin typeface="Calibri"/>
              </a:defRPr>
            </a:pPr>
            <a:r>
              <a:t>  4 KPI cards: New Leads, Follow-ups Due, Overdue, Deals Closed</a:t>
            </a:r>
          </a:p>
          <a:p>
            <a:pPr>
              <a:spcAft>
                <a:spcPts val="600"/>
              </a:spcAft>
              <a:defRPr sz="1400">
                <a:solidFill>
                  <a:srgbClr val="6B7280"/>
                </a:solidFill>
                <a:latin typeface="Calibri"/>
              </a:defRPr>
            </a:pPr>
            <a:r>
              <a:t>  Pipeline Health horizontal bar chart across all active stages</a:t>
            </a:r>
          </a:p>
          <a:p>
            <a:pPr>
              <a:spcAft>
                <a:spcPts val="600"/>
              </a:spcAft>
              <a:defRPr sz="1400">
                <a:solidFill>
                  <a:srgbClr val="6B7280"/>
                </a:solidFill>
                <a:latin typeface="Calibri"/>
              </a:defRPr>
            </a:pPr>
            <a:r>
              <a:t>  Team Activity live feed — calls logged, stages changed, leads created</a:t>
            </a:r>
          </a:p>
          <a:p>
            <a:pPr>
              <a:spcAft>
                <a:spcPts val="600"/>
              </a:spcAft>
              <a:defRPr sz="1400">
                <a:solidFill>
                  <a:srgbClr val="6B7280"/>
                </a:solidFill>
                <a:latin typeface="Calibri"/>
              </a:defRPr>
            </a:pPr>
            <a:r>
              <a:t>  Real-time updates via Firestore onSnapshot</a:t>
            </a:r>
          </a:p>
          <a:p>
            <a:pPr>
              <a:spcAft>
                <a:spcPts val="600"/>
              </a:spcAft>
              <a:defRPr sz="1400">
                <a:solidFill>
                  <a:srgbClr val="6B7280"/>
                </a:solidFill>
                <a:latin typeface="Calibri"/>
              </a:defRPr>
            </a:pPr>
            <a:r>
              <a:t>  Full sidebar navigation with manager-level sections</a:t>
            </a:r>
          </a:p>
          <a:p>
            <a:pPr>
              <a:spcAft>
                <a:spcPts val="600"/>
              </a:spcAft>
              <a:defRPr sz="1400">
                <a:solidFill>
                  <a:srgbClr val="6B7280"/>
                </a:solidFill>
                <a:latin typeface="Calibri"/>
              </a:defRPr>
            </a:pPr>
            <a:r>
              <a:t>  In control within 30 seconds of opening the app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46520" y="1417320"/>
            <a:ext cx="521208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7548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Screen: 00PCT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943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Design: pencil-welcome-desktop.pen  |  Node: 00PCT</a:t>
            </a:r>
          </a:p>
        </p:txBody>
      </p:sp>
      <p:pic>
        <p:nvPicPr>
          <p:cNvPr id="15" name="Picture 14" descr="Manager Dashboard - 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3291840"/>
          </a:xfrm>
          <a:prstGeom prst="roundRect">
            <a:avLst>
              <a:gd name="adj" fmla="val 3000"/>
            </a:avLst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5653"/>
                </a:solidFill>
                <a:latin typeface="Calibri"/>
              </a:defRPr>
            </a:pPr>
            <a:r>
              <a:t>Manager Dashboard — Mobile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960120"/>
            <a:ext cx="1463040" cy="320040"/>
          </a:xfrm>
          <a:prstGeom prst="roundRect">
            <a:avLst>
              <a:gd name="adj" fmla="val 30000"/>
            </a:avLst>
          </a:prstGeom>
          <a:solidFill>
            <a:srgbClr val="1A5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Della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960120"/>
            <a:ext cx="1097280" cy="320040"/>
          </a:xfrm>
          <a:prstGeom prst="roundRect">
            <a:avLst>
              <a:gd name="adj" fmla="val 3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9601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Mobile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280"/>
                </a:solidFill>
                <a:latin typeface="Calibri"/>
              </a:defRPr>
            </a:pPr>
            <a:r>
              <a:t>Same data optimized for Della's phone. Check team status on the go.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Calibri"/>
              </a:defRPr>
            </a:pPr>
            <a:r>
              <a:t>Key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603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6B7280"/>
                </a:solidFill>
                <a:latin typeface="Calibri"/>
              </a:defRPr>
            </a:pPr>
            <a:r>
              <a:t>  Compact KPI pills: New leads, Overdue, Due today, Won</a:t>
            </a:r>
          </a:p>
          <a:p>
            <a:pPr>
              <a:spcAft>
                <a:spcPts val="600"/>
              </a:spcAft>
              <a:defRPr sz="1400">
                <a:solidFill>
                  <a:srgbClr val="6B7280"/>
                </a:solidFill>
                <a:latin typeface="Calibri"/>
              </a:defRPr>
            </a:pPr>
            <a:r>
              <a:t>  Team Scorecard — avatar + stats per salesperson</a:t>
            </a:r>
          </a:p>
          <a:p>
            <a:pPr>
              <a:spcAft>
                <a:spcPts val="600"/>
              </a:spcAft>
              <a:defRPr sz="1400">
                <a:solidFill>
                  <a:srgbClr val="6B7280"/>
                </a:solidFill>
                <a:latin typeface="Calibri"/>
              </a:defRPr>
            </a:pPr>
            <a:r>
              <a:t>  Condensed activity feed with color-coded dots</a:t>
            </a:r>
          </a:p>
          <a:p>
            <a:pPr>
              <a:spcAft>
                <a:spcPts val="600"/>
              </a:spcAft>
              <a:defRPr sz="1400">
                <a:solidFill>
                  <a:srgbClr val="6B7280"/>
                </a:solidFill>
                <a:latin typeface="Calibri"/>
              </a:defRPr>
            </a:pPr>
            <a:r>
              <a:t>  Bottom tab nav with Dashboard active</a:t>
            </a:r>
          </a:p>
          <a:p>
            <a:pPr>
              <a:spcAft>
                <a:spcPts val="600"/>
              </a:spcAft>
              <a:defRPr sz="1400">
                <a:solidFill>
                  <a:srgbClr val="6B7280"/>
                </a:solidFill>
                <a:latin typeface="Calibri"/>
              </a:defRPr>
            </a:pPr>
            <a:r>
              <a:t>  FAB button for quick actions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0" y="1188720"/>
            <a:ext cx="210312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23960" y="117043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1A1A"/>
                </a:solidFill>
                <a:latin typeface="Calibri"/>
              </a:defRPr>
            </a:pPr>
            <a:r>
              <a:t>9:41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6126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Screen: bO6Pj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5943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Design: pencil-welcome-desktop.pen  |  Node: bO6Pj</a:t>
            </a:r>
          </a:p>
        </p:txBody>
      </p:sp>
      <p:pic>
        <p:nvPicPr>
          <p:cNvPr id="16" name="Picture 15" descr="Manager Dashboard - 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097280"/>
            <a:ext cx="2286000" cy="4937760"/>
          </a:xfrm>
          <a:prstGeom prst="roundRect">
            <a:avLst>
              <a:gd name="adj" fmla="val 3000"/>
            </a:avLst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5653"/>
                </a:solidFill>
                <a:latin typeface="Calibri"/>
              </a:defRPr>
            </a:pPr>
            <a:r>
              <a:t>Pipeline Board — Kanban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960120"/>
            <a:ext cx="1463040" cy="320040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Della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960120"/>
            <a:ext cx="1097280" cy="320040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9601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Desktop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280"/>
                </a:solidFill>
                <a:latin typeface="Calibri"/>
              </a:defRPr>
            </a:pPr>
            <a:r>
              <a:t>Drag-and-drop Kanban board with 6 visible stage columns. Bird's-eye view of all prospects.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Calibri"/>
              </a:defRPr>
            </a:pPr>
            <a:r>
              <a:t>Key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603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6B7280"/>
                </a:solidFill>
                <a:latin typeface="Calibri"/>
              </a:defRPr>
            </a:pPr>
            <a:r>
              <a:t>  6 color-coded stage columns: New Enquiry → Referred to MAB</a:t>
            </a:r>
          </a:p>
          <a:p>
            <a:pPr>
              <a:spcAft>
                <a:spcPts val="600"/>
              </a:spcAft>
              <a:defRPr sz="1400">
                <a:solidFill>
                  <a:srgbClr val="6B7280"/>
                </a:solidFill>
                <a:latin typeface="Calibri"/>
              </a:defRPr>
            </a:pPr>
            <a:r>
              <a:t>  "Not Ready Yet" column highlighted with amber border — the key stage</a:t>
            </a:r>
          </a:p>
          <a:p>
            <a:pPr>
              <a:spcAft>
                <a:spcPts val="600"/>
              </a:spcAft>
              <a:defRPr sz="1400">
                <a:solidFill>
                  <a:srgbClr val="6B7280"/>
                </a:solidFill>
                <a:latin typeface="Calibri"/>
              </a:defRPr>
            </a:pPr>
            <a:r>
              <a:t>  Prospect cards show: name, type, assigned avatar, time context</a:t>
            </a:r>
          </a:p>
          <a:p>
            <a:pPr>
              <a:spcAft>
                <a:spcPts val="600"/>
              </a:spcAft>
              <a:defRPr sz="1400">
                <a:solidFill>
                  <a:srgbClr val="6B7280"/>
                </a:solidFill>
                <a:latin typeface="Calibri"/>
              </a:defRPr>
            </a:pPr>
            <a:r>
              <a:t>  Overdue badges in red on cards that need attention</a:t>
            </a:r>
          </a:p>
          <a:p>
            <a:pPr>
              <a:spcAft>
                <a:spcPts val="600"/>
              </a:spcAft>
              <a:defRPr sz="1400">
                <a:solidFill>
                  <a:srgbClr val="6B7280"/>
                </a:solidFill>
                <a:latin typeface="Calibri"/>
              </a:defRPr>
            </a:pPr>
            <a:r>
              <a:t>  Filter and search in the toolbar</a:t>
            </a:r>
          </a:p>
          <a:p>
            <a:pPr>
              <a:spcAft>
                <a:spcPts val="600"/>
              </a:spcAft>
              <a:defRPr sz="1400">
                <a:solidFill>
                  <a:srgbClr val="6B7280"/>
                </a:solidFill>
                <a:latin typeface="Calibri"/>
              </a:defRPr>
            </a:pPr>
            <a:r>
              <a:t>  47 total leads with per-stage count badges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46520" y="1417320"/>
            <a:ext cx="521208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7548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Screen: yuS5D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943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Design: pencil-welcome-desktop.pen  |  Node: yuS5D</a:t>
            </a:r>
          </a:p>
        </p:txBody>
      </p:sp>
      <p:pic>
        <p:nvPicPr>
          <p:cNvPr id="15" name="Picture 14" descr="Pipeline Board - 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3291840"/>
          </a:xfrm>
          <a:prstGeom prst="roundRect">
            <a:avLst>
              <a:gd name="adj" fmla="val 3000"/>
            </a:avLst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5653"/>
                </a:solidFill>
                <a:latin typeface="Calibri"/>
              </a:defRPr>
            </a:pPr>
            <a:r>
              <a:t>"My Day"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960120"/>
            <a:ext cx="1463040" cy="320040"/>
          </a:xfrm>
          <a:prstGeom prst="roundRect">
            <a:avLst>
              <a:gd name="adj" fmla="val 30000"/>
            </a:avLst>
          </a:prstGeom>
          <a:solidFill>
            <a:srgbClr val="1A5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Salesperson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960120"/>
            <a:ext cx="1097280" cy="320040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9601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Desktop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280"/>
                </a:solidFill>
                <a:latin typeface="Calibri"/>
              </a:defRPr>
            </a:pPr>
            <a:r>
              <a:t>The salesperson's home screen. Clear daily priorities with no ambiguity.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Calibri"/>
              </a:defRPr>
            </a:pPr>
            <a:r>
              <a:t>Key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603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6B7280"/>
                </a:solidFill>
                <a:latin typeface="Calibri"/>
              </a:defRPr>
            </a:pPr>
            <a:r>
              <a:t>  Personalised greeting with motivational nudge</a:t>
            </a:r>
          </a:p>
          <a:p>
            <a:pPr>
              <a:spcAft>
                <a:spcPts val="600"/>
              </a:spcAft>
              <a:defRPr sz="1400">
                <a:solidFill>
                  <a:srgbClr val="6B7280"/>
                </a:solidFill>
                <a:latin typeface="Calibri"/>
              </a:defRPr>
            </a:pPr>
            <a:r>
              <a:t>  Today's Follow-ups — cards with name, phone, context blurb, status badges</a:t>
            </a:r>
          </a:p>
          <a:p>
            <a:pPr>
              <a:spcAft>
                <a:spcPts val="600"/>
              </a:spcAft>
              <a:defRPr sz="1400">
                <a:solidFill>
                  <a:srgbClr val="6B7280"/>
                </a:solidFill>
                <a:latin typeface="Calibri"/>
              </a:defRPr>
            </a:pPr>
            <a:r>
              <a:t>  Status badges: Overdue (red), Due today (amber), Planned (blue)</a:t>
            </a:r>
          </a:p>
          <a:p>
            <a:pPr>
              <a:spcAft>
                <a:spcPts val="600"/>
              </a:spcAft>
              <a:defRPr sz="1400">
                <a:solidFill>
                  <a:srgbClr val="6B7280"/>
                </a:solidFill>
                <a:latin typeface="Calibri"/>
              </a:defRPr>
            </a:pPr>
            <a:r>
              <a:t>  My Pipeline summary — stage counts at a glance</a:t>
            </a:r>
          </a:p>
          <a:p>
            <a:pPr>
              <a:spcAft>
                <a:spcPts val="600"/>
              </a:spcAft>
              <a:defRPr sz="1400">
                <a:solidFill>
                  <a:srgbClr val="6B7280"/>
                </a:solidFill>
                <a:latin typeface="Calibri"/>
              </a:defRPr>
            </a:pPr>
            <a:r>
              <a:t>  New Assignments — leads Della has assigned with context</a:t>
            </a:r>
          </a:p>
          <a:p>
            <a:pPr>
              <a:spcAft>
                <a:spcPts val="600"/>
              </a:spcAft>
              <a:defRPr sz="1400">
                <a:solidFill>
                  <a:srgbClr val="6B7280"/>
                </a:solidFill>
                <a:latin typeface="Calibri"/>
              </a:defRPr>
            </a:pPr>
            <a:r>
              <a:t>  Focused on what to do right now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46520" y="1417320"/>
            <a:ext cx="521208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7548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Screen: xLorR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943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Design: pencil-welcome-desktop.pen  |  Node: xLorR</a:t>
            </a:r>
          </a:p>
        </p:txBody>
      </p:sp>
      <p:pic>
        <p:nvPicPr>
          <p:cNvPr id="15" name="Picture 14" descr="My Day Dashboard - 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3291840"/>
          </a:xfrm>
          <a:prstGeom prst="roundRect">
            <a:avLst>
              <a:gd name="adj" fmla="val 3000"/>
            </a:avLst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5653"/>
                </a:solidFill>
                <a:latin typeface="Calibri"/>
              </a:defRPr>
            </a:pPr>
            <a:r>
              <a:t>"My Day" — Mobile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960120"/>
            <a:ext cx="1463040" cy="320040"/>
          </a:xfrm>
          <a:prstGeom prst="roundRect">
            <a:avLst>
              <a:gd name="adj" fmla="val 30000"/>
            </a:avLst>
          </a:prstGeom>
          <a:solidFill>
            <a:srgbClr val="1A5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Salesperson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960120"/>
            <a:ext cx="1097280" cy="320040"/>
          </a:xfrm>
          <a:prstGeom prst="roundRect">
            <a:avLst>
              <a:gd name="adj" fmla="val 3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9601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Mobile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280"/>
                </a:solidFill>
                <a:latin typeface="Calibri"/>
              </a:defRPr>
            </a:pPr>
            <a:r>
              <a:t>Single-column, follow-up focused. Everything works with one hand between appointments.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Calibri"/>
              </a:defRPr>
            </a:pPr>
            <a:r>
              <a:t>Key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603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6B7280"/>
                </a:solidFill>
                <a:latin typeface="Calibri"/>
              </a:defRPr>
            </a:pPr>
            <a:r>
              <a:t>  3 follow-up cards with avatar, name, phone number</a:t>
            </a:r>
          </a:p>
          <a:p>
            <a:pPr>
              <a:spcAft>
                <a:spcPts val="600"/>
              </a:spcAft>
              <a:defRPr sz="1400">
                <a:solidFill>
                  <a:srgbClr val="6B7280"/>
                </a:solidFill>
                <a:latin typeface="Calibri"/>
              </a:defRPr>
            </a:pPr>
            <a:r>
              <a:t>  Status badges: Overdue, Due today, Planned</a:t>
            </a:r>
          </a:p>
          <a:p>
            <a:pPr>
              <a:spcAft>
                <a:spcPts val="600"/>
              </a:spcAft>
              <a:defRPr sz="1400">
                <a:solidFill>
                  <a:srgbClr val="6B7280"/>
                </a:solidFill>
                <a:latin typeface="Calibri"/>
              </a:defRPr>
            </a:pPr>
            <a:r>
              <a:t>  Context blurb for each prospect</a:t>
            </a:r>
          </a:p>
          <a:p>
            <a:pPr>
              <a:spcAft>
                <a:spcPts val="600"/>
              </a:spcAft>
              <a:defRPr sz="1400">
                <a:solidFill>
                  <a:srgbClr val="6B7280"/>
                </a:solidFill>
                <a:latin typeface="Calibri"/>
              </a:defRPr>
            </a:pPr>
            <a:r>
              <a:t>  Call and Snooze action buttons on overdue cards</a:t>
            </a:r>
          </a:p>
          <a:p>
            <a:pPr>
              <a:spcAft>
                <a:spcPts val="600"/>
              </a:spcAft>
              <a:defRPr sz="1400">
                <a:solidFill>
                  <a:srgbClr val="6B7280"/>
                </a:solidFill>
                <a:latin typeface="Calibri"/>
              </a:defRPr>
            </a:pPr>
            <a:r>
              <a:t>  Bottom tab nav: My Day, Pipeline, +, Prospects, More</a:t>
            </a:r>
          </a:p>
          <a:p>
            <a:pPr>
              <a:spcAft>
                <a:spcPts val="600"/>
              </a:spcAft>
              <a:defRPr sz="1400">
                <a:solidFill>
                  <a:srgbClr val="6B7280"/>
                </a:solidFill>
                <a:latin typeface="Calibri"/>
              </a:defRPr>
            </a:pPr>
            <a:r>
              <a:t>  FAB button for instant new lead capture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0" y="1188720"/>
            <a:ext cx="210312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23960" y="117043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1A1A"/>
                </a:solidFill>
                <a:latin typeface="Calibri"/>
              </a:defRPr>
            </a:pPr>
            <a:r>
              <a:t>9:41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6126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Screen: S14Wd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5943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Design: pencil-welcome-desktop.pen  |  Node: S14Wd</a:t>
            </a:r>
          </a:p>
        </p:txBody>
      </p:sp>
      <p:pic>
        <p:nvPicPr>
          <p:cNvPr id="16" name="Picture 15" descr="My Day - 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097280"/>
            <a:ext cx="2286000" cy="4937760"/>
          </a:xfrm>
          <a:prstGeom prst="roundRect">
            <a:avLst>
              <a:gd name="adj" fmla="val 3000"/>
            </a:avLst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5653"/>
                </a:solidFill>
                <a:latin typeface="Calibri"/>
              </a:defRPr>
            </a:pPr>
            <a:r>
              <a:t>New Lead 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960120"/>
            <a:ext cx="1463040" cy="320040"/>
          </a:xfrm>
          <a:prstGeom prst="roundRect">
            <a:avLst>
              <a:gd name="adj" fmla="val 30000"/>
            </a:avLst>
          </a:prstGeom>
          <a:solidFill>
            <a:srgbClr val="1A5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Salesperson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960120"/>
            <a:ext cx="1097280" cy="320040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9601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Desktop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280"/>
                </a:solidFill>
                <a:latin typeface="Calibri"/>
              </a:defRPr>
            </a:pPr>
            <a:r>
              <a:t>Two-column layout for capturing leads in under 60 seconds. The core data entry screen.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Calibri"/>
              </a:defRPr>
            </a:pPr>
            <a:r>
              <a:t>Key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603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6B7280"/>
                </a:solidFill>
                <a:latin typeface="Calibri"/>
              </a:defRPr>
            </a:pPr>
            <a:r>
              <a:t>  Left: Contact details — name, phone, email, source, mortgage type, readiness, notes</a:t>
            </a:r>
          </a:p>
          <a:p>
            <a:pPr>
              <a:spcAft>
                <a:spcPts val="600"/>
              </a:spcAft>
              <a:defRPr sz="1400">
                <a:solidFill>
                  <a:srgbClr val="6B7280"/>
                </a:solidFill>
                <a:latin typeface="Calibri"/>
              </a:defRPr>
            </a:pPr>
            <a:r>
              <a:t>  Right: Follow-up Reminder config — date, reason, up to 3 email recipients</a:t>
            </a:r>
          </a:p>
          <a:p>
            <a:pPr>
              <a:spcAft>
                <a:spcPts val="600"/>
              </a:spcAft>
              <a:defRPr sz="1400">
                <a:solidFill>
                  <a:srgbClr val="6B7280"/>
                </a:solidFill>
                <a:latin typeface="Calibri"/>
              </a:defRPr>
            </a:pPr>
            <a:r>
              <a:t>  Up to 3 email recipients — ensures the right people get the reminder</a:t>
            </a:r>
          </a:p>
          <a:p>
            <a:pPr>
              <a:spcAft>
                <a:spcPts val="600"/>
              </a:spcAft>
              <a:defRPr sz="1400">
                <a:solidFill>
                  <a:srgbClr val="6B7280"/>
                </a:solidFill>
                <a:latin typeface="Calibri"/>
              </a:defRPr>
            </a:pPr>
            <a:r>
              <a:t>  Reminder note — context to include in the email</a:t>
            </a:r>
          </a:p>
          <a:p>
            <a:pPr>
              <a:spcAft>
                <a:spcPts val="600"/>
              </a:spcAft>
              <a:defRPr sz="1400">
                <a:solidFill>
                  <a:srgbClr val="6B7280"/>
                </a:solidFill>
                <a:latin typeface="Calibri"/>
              </a:defRPr>
            </a:pPr>
            <a:r>
              <a:t>  Smart defaults for follow-up dates based on readiness</a:t>
            </a:r>
          </a:p>
          <a:p>
            <a:pPr>
              <a:spcAft>
                <a:spcPts val="600"/>
              </a:spcAft>
              <a:defRPr sz="1400">
                <a:solidFill>
                  <a:srgbClr val="6B7280"/>
                </a:solidFill>
                <a:latin typeface="Calibri"/>
              </a:defRPr>
            </a:pPr>
            <a:r>
              <a:t>  Save Lead button creates the lead + schedules the reminder in one action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46520" y="1417320"/>
            <a:ext cx="521208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7548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Screen: oluoT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943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Design: pencil-welcome-desktop.pen  |  Node: oluoT</a:t>
            </a:r>
          </a:p>
        </p:txBody>
      </p:sp>
      <p:pic>
        <p:nvPicPr>
          <p:cNvPr id="15" name="Picture 14" descr="New Lead Form - 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3291840"/>
          </a:xfrm>
          <a:prstGeom prst="roundRect">
            <a:avLst>
              <a:gd name="adj" fmla="val 3000"/>
            </a:avLst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5653"/>
                </a:solidFill>
                <a:latin typeface="Calibri"/>
              </a:defRPr>
            </a:pPr>
            <a:r>
              <a:t>Quick Capture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960120"/>
            <a:ext cx="1463040" cy="320040"/>
          </a:xfrm>
          <a:prstGeom prst="roundRect">
            <a:avLst>
              <a:gd name="adj" fmla="val 3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Field Sales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960120"/>
            <a:ext cx="1097280" cy="320040"/>
          </a:xfrm>
          <a:prstGeom prst="roundRect">
            <a:avLst>
              <a:gd name="adj" fmla="val 3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9601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Mobile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280"/>
                </a:solidFill>
                <a:latin typeface="Calibri"/>
              </a:defRPr>
            </a:pPr>
            <a:r>
              <a:t>15-second lead capture for networking events and in-person referrals. Minimal friction.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Calibri"/>
              </a:defRPr>
            </a:pPr>
            <a:r>
              <a:t>Key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603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6B7280"/>
                </a:solidFill>
                <a:latin typeface="Calibri"/>
              </a:defRPr>
            </a:pPr>
            <a:r>
              <a:t>  Only 2 required fields: Name and Phone</a:t>
            </a:r>
          </a:p>
          <a:p>
            <a:pPr>
              <a:spcAft>
                <a:spcPts val="600"/>
              </a:spcAft>
              <a:defRPr sz="1400">
                <a:solidFill>
                  <a:srgbClr val="6B7280"/>
                </a:solidFill>
                <a:latin typeface="Calibri"/>
              </a:defRPr>
            </a:pPr>
            <a:r>
              <a:t>  Quick Note textarea for context</a:t>
            </a:r>
          </a:p>
          <a:p>
            <a:pPr>
              <a:spcAft>
                <a:spcPts val="600"/>
              </a:spcAft>
              <a:defRPr sz="1400">
                <a:solidFill>
                  <a:srgbClr val="6B7280"/>
                </a:solidFill>
                <a:latin typeface="Calibri"/>
              </a:defRPr>
            </a:pPr>
            <a:r>
              <a:t>  Type tags — tap to select: First-time buyer, Remortgage, Self-employed, etc.</a:t>
            </a:r>
          </a:p>
          <a:p>
            <a:pPr>
              <a:spcAft>
                <a:spcPts val="600"/>
              </a:spcAft>
              <a:defRPr sz="1400">
                <a:solidFill>
                  <a:srgbClr val="6B7280"/>
                </a:solidFill>
                <a:latin typeface="Calibri"/>
              </a:defRPr>
            </a:pPr>
            <a:r>
              <a:t>  Save button in header for one-tap completion</a:t>
            </a:r>
          </a:p>
          <a:p>
            <a:pPr>
              <a:spcAft>
                <a:spcPts val="600"/>
              </a:spcAft>
              <a:defRPr sz="1400">
                <a:solidFill>
                  <a:srgbClr val="6B7280"/>
                </a:solidFill>
                <a:latin typeface="Calibri"/>
              </a:defRPr>
            </a:pPr>
            <a:r>
              <a:t>  Designed for capture while the conversation is still fresh</a:t>
            </a:r>
          </a:p>
          <a:p>
            <a:pPr>
              <a:spcAft>
                <a:spcPts val="600"/>
              </a:spcAft>
              <a:defRPr sz="1400">
                <a:solidFill>
                  <a:srgbClr val="6B7280"/>
                </a:solidFill>
                <a:latin typeface="Calibri"/>
              </a:defRPr>
            </a:pPr>
            <a:r>
              <a:t>  Full details can be added later on desktop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0" y="1188720"/>
            <a:ext cx="210312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23960" y="117043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1A1A"/>
                </a:solidFill>
                <a:latin typeface="Calibri"/>
              </a:defRPr>
            </a:pPr>
            <a:r>
              <a:t>9:41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6126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Screen: gJmkX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5943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Design: pencil-welcome-desktop.pen  |  Node: gJmkX</a:t>
            </a:r>
          </a:p>
        </p:txBody>
      </p:sp>
      <p:pic>
        <p:nvPicPr>
          <p:cNvPr id="16" name="Picture 15" descr="Quick Capture - 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097280"/>
            <a:ext cx="2286000" cy="4937760"/>
          </a:xfrm>
          <a:prstGeom prst="roundRect">
            <a:avLst>
              <a:gd name="adj" fmla="val 3000"/>
            </a:avLst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5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5653"/>
                </a:solidFill>
                <a:latin typeface="Calibri"/>
              </a:defRPr>
            </a:pPr>
            <a:r>
              <a:t>Prospect Detail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960120"/>
            <a:ext cx="1463040" cy="320040"/>
          </a:xfrm>
          <a:prstGeom prst="roundRect">
            <a:avLst>
              <a:gd name="adj" fmla="val 30000"/>
            </a:avLst>
          </a:prstGeom>
          <a:solidFill>
            <a:srgbClr val="1A5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Salesperson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960120"/>
            <a:ext cx="1097280" cy="320040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9601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Desktop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280"/>
                </a:solidFill>
                <a:latin typeface="Calibri"/>
              </a:defRPr>
            </a:pPr>
            <a:r>
              <a:t>Full prospect view with contact info, follow-up schedule, and activity timeline.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Calibri"/>
              </a:defRPr>
            </a:pPr>
            <a:r>
              <a:t>Key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603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6B7280"/>
                </a:solidFill>
                <a:latin typeface="Calibri"/>
              </a:defRPr>
            </a:pPr>
            <a:r>
              <a:t>  Header: avatar, name, tappable stage badge, meta info</a:t>
            </a:r>
          </a:p>
          <a:p>
            <a:pPr>
              <a:spcAft>
                <a:spcPts val="600"/>
              </a:spcAft>
              <a:defRPr sz="1400">
                <a:solidFill>
                  <a:srgbClr val="6B7280"/>
                </a:solidFill>
                <a:latin typeface="Calibri"/>
              </a:defRPr>
            </a:pPr>
            <a:r>
              <a:t>  Action buttons: Call, Email, Log Activity</a:t>
            </a:r>
          </a:p>
          <a:p>
            <a:pPr>
              <a:spcAft>
                <a:spcPts val="600"/>
              </a:spcAft>
              <a:defRPr sz="1400">
                <a:solidFill>
                  <a:srgbClr val="6B7280"/>
                </a:solidFill>
                <a:latin typeface="Calibri"/>
              </a:defRPr>
            </a:pPr>
            <a:r>
              <a:t>  Tabs: Overview, Notes &amp; Activity, Qualification, Follow-ups</a:t>
            </a:r>
          </a:p>
          <a:p>
            <a:pPr>
              <a:spcAft>
                <a:spcPts val="600"/>
              </a:spcAft>
              <a:defRPr sz="1400">
                <a:solidFill>
                  <a:srgbClr val="6B7280"/>
                </a:solidFill>
                <a:latin typeface="Calibri"/>
              </a:defRPr>
            </a:pPr>
            <a:r>
              <a:t>  Contact Information card with all key fields</a:t>
            </a:r>
          </a:p>
          <a:p>
            <a:pPr>
              <a:spcAft>
                <a:spcPts val="600"/>
              </a:spcAft>
              <a:defRPr sz="1400">
                <a:solidFill>
                  <a:srgbClr val="6B7280"/>
                </a:solidFill>
                <a:latin typeface="Calibri"/>
              </a:defRPr>
            </a:pPr>
            <a:r>
              <a:t>  Next Follow-up card highlighted in amber — never missed</a:t>
            </a:r>
          </a:p>
          <a:p>
            <a:pPr>
              <a:spcAft>
                <a:spcPts val="600"/>
              </a:spcAft>
              <a:defRPr sz="1400">
                <a:solidFill>
                  <a:srgbClr val="6B7280"/>
                </a:solidFill>
                <a:latin typeface="Calibri"/>
              </a:defRPr>
            </a:pPr>
            <a:r>
              <a:t>  Activity Timeline with color-coded dots and full context notes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46520" y="1417320"/>
            <a:ext cx="521208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7548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Screen: CHnFT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943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Design: pencil-welcome-desktop.pen  |  Node: CHnFT</a:t>
            </a:r>
          </a:p>
        </p:txBody>
      </p:sp>
      <p:pic>
        <p:nvPicPr>
          <p:cNvPr id="15" name="Picture 14" descr="Prospect Detail - 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3291840"/>
          </a:xfrm>
          <a:prstGeom prst="roundRect">
            <a:avLst>
              <a:gd name="adj" fmla="val 3000"/>
            </a:avLst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5653"/>
                </a:solidFill>
                <a:latin typeface="Calibri"/>
              </a:defRPr>
            </a:pPr>
            <a:r>
              <a:t>Pipeline List — Mobile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960120"/>
            <a:ext cx="1463040" cy="320040"/>
          </a:xfrm>
          <a:prstGeom prst="roundRect">
            <a:avLst>
              <a:gd name="adj" fmla="val 3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Field Sales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960120"/>
            <a:ext cx="1097280" cy="320040"/>
          </a:xfrm>
          <a:prstGeom prst="roundRect">
            <a:avLst>
              <a:gd name="adj" fmla="val 3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9601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Mobile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280"/>
                </a:solidFill>
                <a:latin typeface="Calibri"/>
              </a:defRPr>
            </a:pPr>
            <a:r>
              <a:t>Mobile-optimized pipeline view. Horizontal stage pills for quick filtering.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Calibri"/>
              </a:defRPr>
            </a:pPr>
            <a:r>
              <a:t>Key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603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6B7280"/>
                </a:solidFill>
                <a:latin typeface="Calibri"/>
              </a:defRPr>
            </a:pPr>
            <a:r>
              <a:t>  Horizontal stage pills — tap to filter by stage</a:t>
            </a:r>
          </a:p>
          <a:p>
            <a:pPr>
              <a:spcAft>
                <a:spcPts val="600"/>
              </a:spcAft>
              <a:defRPr sz="1400">
                <a:solidFill>
                  <a:srgbClr val="6B7280"/>
                </a:solidFill>
                <a:latin typeface="Calibri"/>
              </a:defRPr>
            </a:pPr>
            <a:r>
              <a:t>  "Not Ready Yet" selected, showing 12 leads</a:t>
            </a:r>
          </a:p>
          <a:p>
            <a:pPr>
              <a:spcAft>
                <a:spcPts val="600"/>
              </a:spcAft>
              <a:defRPr sz="1400">
                <a:solidFill>
                  <a:srgbClr val="6B7280"/>
                </a:solidFill>
                <a:latin typeface="Calibri"/>
              </a:defRPr>
            </a:pPr>
            <a:r>
              <a:t>  Prospect cards with avatar, name, type summary</a:t>
            </a:r>
          </a:p>
          <a:p>
            <a:pPr>
              <a:spcAft>
                <a:spcPts val="600"/>
              </a:spcAft>
              <a:defRPr sz="1400">
                <a:solidFill>
                  <a:srgbClr val="6B7280"/>
                </a:solidFill>
                <a:latin typeface="Calibri"/>
              </a:defRPr>
            </a:pPr>
            <a:r>
              <a:t>  Color-coded badges: Overdue, Due today, scheduled date, On track</a:t>
            </a:r>
          </a:p>
          <a:p>
            <a:pPr>
              <a:spcAft>
                <a:spcPts val="600"/>
              </a:spcAft>
              <a:defRPr sz="1400">
                <a:solidFill>
                  <a:srgbClr val="6B7280"/>
                </a:solidFill>
                <a:latin typeface="Calibri"/>
              </a:defRPr>
            </a:pPr>
            <a:r>
              <a:t>  Bottom nav with Pipeline tab active</a:t>
            </a:r>
          </a:p>
          <a:p>
            <a:pPr>
              <a:spcAft>
                <a:spcPts val="600"/>
              </a:spcAft>
              <a:defRPr sz="1400">
                <a:solidFill>
                  <a:srgbClr val="6B7280"/>
                </a:solidFill>
                <a:latin typeface="Calibri"/>
              </a:defRPr>
            </a:pPr>
            <a:r>
              <a:t>  Quick access to prospect detail via card tap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0" y="1188720"/>
            <a:ext cx="210312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23960" y="117043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1A1A"/>
                </a:solidFill>
                <a:latin typeface="Calibri"/>
              </a:defRPr>
            </a:pPr>
            <a:r>
              <a:t>9:41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6126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Screen: xNuto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5943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Design: pencil-welcome-desktop.pen  |  Node: xNuto</a:t>
            </a:r>
          </a:p>
        </p:txBody>
      </p:sp>
      <p:pic>
        <p:nvPicPr>
          <p:cNvPr id="16" name="Picture 15" descr="Pipeline List - 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097280"/>
            <a:ext cx="2286000" cy="4937760"/>
          </a:xfrm>
          <a:prstGeom prst="roundRect">
            <a:avLst>
              <a:gd name="adj" fmla="val 3000"/>
            </a:avLst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5653"/>
                </a:solidFill>
                <a:latin typeface="Calibri"/>
              </a:defRPr>
            </a:pPr>
            <a:r>
              <a:t>MAB Platform Import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960120"/>
            <a:ext cx="1463040" cy="320040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Della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960120"/>
            <a:ext cx="1097280" cy="320040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9601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Desktop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280"/>
                </a:solidFill>
                <a:latin typeface="Calibri"/>
              </a:defRPr>
            </a:pPr>
            <a:r>
              <a:t>Bridge to the existing system. CSV/XLS upload with automatic column mapping and deduplication.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Calibri"/>
              </a:defRPr>
            </a:pPr>
            <a:r>
              <a:t>Key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603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6B7280"/>
                </a:solidFill>
                <a:latin typeface="Calibri"/>
              </a:defRPr>
            </a:pPr>
            <a:r>
              <a:t>  Drag-and-drop upload area with file confirmation</a:t>
            </a:r>
          </a:p>
          <a:p>
            <a:pPr>
              <a:spcAft>
                <a:spcPts val="600"/>
              </a:spcAft>
              <a:defRPr sz="1400">
                <a:solidFill>
                  <a:srgbClr val="6B7280"/>
                </a:solidFill>
                <a:latin typeface="Calibri"/>
              </a:defRPr>
            </a:pPr>
            <a:r>
              <a:t>  Auto column mapping: MAB columns → Mallard Connect fields</a:t>
            </a:r>
          </a:p>
          <a:p>
            <a:pPr>
              <a:spcAft>
                <a:spcPts val="600"/>
              </a:spcAft>
              <a:defRPr sz="1400">
                <a:solidFill>
                  <a:srgbClr val="6B7280"/>
                </a:solidFill>
                <a:latin typeface="Calibri"/>
              </a:defRPr>
            </a:pPr>
            <a:r>
              <a:t>  Deduplication preview with 3 color-coded buckets:</a:t>
            </a:r>
          </a:p>
          <a:p>
            <a:pPr>
              <a:spcAft>
                <a:spcPts val="600"/>
              </a:spcAft>
              <a:defRPr sz="1400">
                <a:solidFill>
                  <a:srgbClr val="6B7280"/>
                </a:solidFill>
                <a:latin typeface="Calibri"/>
              </a:defRPr>
            </a:pPr>
            <a:r>
              <a:t>      Green (42) — New leads, will be created</a:t>
            </a:r>
          </a:p>
          <a:p>
            <a:pPr>
              <a:spcAft>
                <a:spcPts val="600"/>
              </a:spcAft>
              <a:defRPr sz="1400">
                <a:solidFill>
                  <a:srgbClr val="6B7280"/>
                </a:solidFill>
                <a:latin typeface="Calibri"/>
              </a:defRPr>
            </a:pPr>
            <a:r>
              <a:t>      Amber (8) — Duplicates, will be skipped</a:t>
            </a:r>
          </a:p>
          <a:p>
            <a:pPr>
              <a:spcAft>
                <a:spcPts val="600"/>
              </a:spcAft>
              <a:defRPr sz="1400">
                <a:solidFill>
                  <a:srgbClr val="6B7280"/>
                </a:solidFill>
                <a:latin typeface="Calibri"/>
              </a:defRPr>
            </a:pPr>
            <a:r>
              <a:t>      Blue (3) — Duplicates with newer data, merge toggles</a:t>
            </a:r>
          </a:p>
          <a:p>
            <a:pPr>
              <a:spcAft>
                <a:spcPts val="600"/>
              </a:spcAft>
              <a:defRPr sz="1400">
                <a:solidFill>
                  <a:srgbClr val="6B7280"/>
                </a:solidFill>
                <a:latin typeface="Calibri"/>
              </a:defRPr>
            </a:pPr>
            <a:r>
              <a:t>  Column mapper remembers last mapping</a:t>
            </a:r>
          </a:p>
          <a:p>
            <a:pPr>
              <a:spcAft>
                <a:spcPts val="600"/>
              </a:spcAft>
              <a:defRPr sz="1400">
                <a:solidFill>
                  <a:srgbClr val="6B7280"/>
                </a:solidFill>
                <a:latin typeface="Calibri"/>
              </a:defRPr>
            </a:pPr>
            <a:r>
              <a:t>  Phone normalization handles +44 prefix and spacing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46520" y="1417320"/>
            <a:ext cx="521208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7548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Screen: oaR0H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943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Design: pencil-welcome-desktop.pen  |  Node: oaR0H</a:t>
            </a:r>
          </a:p>
        </p:txBody>
      </p:sp>
      <p:pic>
        <p:nvPicPr>
          <p:cNvPr id="15" name="Picture 14" descr="MAB Import - 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3291840"/>
          </a:xfrm>
          <a:prstGeom prst="roundRect">
            <a:avLst>
              <a:gd name="adj" fmla="val 3000"/>
            </a:avLst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5653"/>
                </a:solidFill>
                <a:latin typeface="Calibri"/>
              </a:defRPr>
            </a:pPr>
            <a:r>
              <a:t>Core Feature: Follow-up Reminders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97280"/>
            <a:ext cx="18288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7280"/>
                </a:solidFill>
                <a:latin typeface="Calibri"/>
              </a:defRPr>
            </a:pPr>
            <a:r>
              <a:t>The single most important feature. This is what Mallard Connect exists to do.</a:t>
            </a:r>
          </a:p>
        </p:txBody>
      </p:sp>
      <p:sp>
        <p:nvSpPr>
          <p:cNvPr id="6" name="Rectangle 5"/>
          <p:cNvSpPr/>
          <p:nvPr/>
        </p:nvSpPr>
        <p:spPr>
          <a:xfrm>
            <a:off x="1325880" y="2286000"/>
            <a:ext cx="731520" cy="731520"/>
          </a:xfrm>
          <a:prstGeom prst="rect">
            <a:avLst/>
          </a:prstGeom>
          <a:solidFill>
            <a:srgbClr val="1A5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24231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A1A"/>
                </a:solidFill>
                <a:latin typeface="Calibri"/>
              </a:defRPr>
            </a:pPr>
            <a:r>
              <a:t>Set 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6616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Calibri"/>
              </a:defRPr>
            </a:pPr>
            <a:r>
              <a:t>Smart defaults based</a:t>
            </a:r>
            <a:br/>
            <a:r>
              <a:t>on readiness level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468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B728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11880" y="2286000"/>
            <a:ext cx="731520" cy="731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24231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32004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A1A"/>
                </a:solidFill>
                <a:latin typeface="Calibri"/>
              </a:defRPr>
            </a:pPr>
            <a:r>
              <a:t>Add Recipients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356616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Calibri"/>
              </a:defRPr>
            </a:pPr>
            <a:r>
              <a:t>Up to 3 email addresses</a:t>
            </a:r>
            <a:br/>
            <a:r>
              <a:t>who should be notified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468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B728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97880" y="2286000"/>
            <a:ext cx="731520" cy="7315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97880" y="24231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32004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A1A"/>
                </a:solidFill>
                <a:latin typeface="Calibri"/>
              </a:defRPr>
            </a:pPr>
            <a:r>
              <a:t>Write 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356616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Calibri"/>
              </a:defRPr>
            </a:pPr>
            <a:r>
              <a:t>Client situation blurb</a:t>
            </a:r>
            <a:br/>
            <a:r>
              <a:t>included in the email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2468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B728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83880" y="2286000"/>
            <a:ext cx="731520" cy="7315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80" y="24231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32004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A1A"/>
                </a:solidFill>
                <a:latin typeface="Calibri"/>
              </a:defRPr>
            </a:pPr>
            <a:r>
              <a:t>7am Daily Cron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356616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Calibri"/>
              </a:defRPr>
            </a:pPr>
            <a:r>
              <a:t>Vercel Cron + Resend</a:t>
            </a:r>
            <a:br/>
            <a:r>
              <a:t>sends reminders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2468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B728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469880" y="2286000"/>
            <a:ext cx="731520" cy="7315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69880" y="24231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32004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A1A"/>
                </a:solidFill>
                <a:latin typeface="Calibri"/>
              </a:defRPr>
            </a:pPr>
            <a:r>
              <a:t>Act on Reminder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356616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Calibri"/>
              </a:defRPr>
            </a:pPr>
            <a:r>
              <a:t>Email with client details</a:t>
            </a:r>
            <a:br/>
            <a:r>
              <a:t>+ deep link to app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4389120"/>
            <a:ext cx="10332720" cy="1371600"/>
          </a:xfrm>
          <a:prstGeom prst="roundRect">
            <a:avLst>
              <a:gd name="adj" fmla="val 3000"/>
            </a:avLst>
          </a:prstGeom>
          <a:solidFill>
            <a:srgbClr val="FEF3C7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80160" y="45720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2400E"/>
                </a:solidFill>
                <a:latin typeface="Calibri"/>
              </a:defRPr>
            </a:pPr>
            <a:r>
              <a:t>Why this matters: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49377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2400E"/>
                </a:solidFill>
                <a:latin typeface="Calibri"/>
              </a:defRPr>
            </a:pPr>
            <a:r>
              <a:t>The reminder email includes enough context that the salesperson can act without opening the app — client name, phone, situation summary, and a deep link to the prospect detail. Long nurture cycles (6-12 months) are normal in UK mortgage — the system handles them gracefully.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5653"/>
                </a:solidFill>
                <a:latin typeface="Calibri"/>
              </a:defRPr>
            </a:pPr>
            <a:r>
              <a:t>Tech Stack &amp;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18288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719072"/>
            <a:ext cx="137160" cy="137160"/>
          </a:xfrm>
          <a:prstGeom prst="rect">
            <a:avLst/>
          </a:prstGeom>
          <a:solidFill>
            <a:srgbClr val="1A5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645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Calibri"/>
              </a:defRPr>
            </a:pPr>
            <a:r>
              <a:t>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9202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Next.js 14+ (App Router, TypeScript)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496312"/>
            <a:ext cx="137160" cy="137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423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697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Firebase Firestore (NoSQL, real-time sync)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273552"/>
            <a:ext cx="137160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2004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Calibri"/>
              </a:defRPr>
            </a:pPr>
            <a:r>
              <a:t>Auth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474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Firebase Auth (email/password, magic link)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050792"/>
            <a:ext cx="137160" cy="1371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977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Calibri"/>
              </a:defRPr>
            </a:pPr>
            <a:r>
              <a:t>Email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2519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Resend (transactional reminders, invites)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828032"/>
            <a:ext cx="137160" cy="137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754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Calibri"/>
              </a:defRPr>
            </a:pPr>
            <a:r>
              <a:t>Cron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029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Vercel Cron (daily 7am UK reminder job)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719072"/>
            <a:ext cx="137160" cy="137160"/>
          </a:xfrm>
          <a:prstGeom prst="rect">
            <a:avLst/>
          </a:prstGeom>
          <a:solidFill>
            <a:srgbClr val="2D7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1645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Calibri"/>
              </a:defRPr>
            </a:pPr>
            <a:r>
              <a:t>UI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19202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Tailwind CSS + shadcn/ui + KokonutUI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496312"/>
            <a:ext cx="137160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2423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Calibri"/>
              </a:defRPr>
            </a:pPr>
            <a:r>
              <a:t>Hosting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697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Vercel (Next.js optimized, preview deploys)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3273552"/>
            <a:ext cx="137160" cy="1371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32004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Calibri"/>
              </a:defRPr>
            </a:pPr>
            <a:r>
              <a:t>Validation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3474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Zod (shared client/server schemas)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4050792"/>
            <a:ext cx="137160" cy="137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3977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Calibri"/>
              </a:defRPr>
            </a:pPr>
            <a:r>
              <a:t>Real-time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42519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Firestore onSnapshot (no extra WebSocket infra)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4828032"/>
            <a:ext cx="137160" cy="137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0" y="4754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Calibri"/>
              </a:defRPr>
            </a:pPr>
            <a:r>
              <a:t>Import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5029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SheetJS/xlsx (CSV/XLS parsing)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" y="5486400"/>
            <a:ext cx="10332720" cy="36576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Migration path: Firebase → Supabase/Postgres when Mallard is ready for a full CRM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5653"/>
                </a:solidFill>
                <a:latin typeface="Calibri"/>
              </a:defRPr>
            </a:pPr>
            <a:r>
              <a:t>Phased Delivery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18288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6517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1A5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651760" cy="731520"/>
          </a:xfrm>
          <a:prstGeom prst="roundRect">
            <a:avLst>
              <a:gd name="adj" fmla="val 3000"/>
            </a:avLst>
          </a:prstGeom>
          <a:solidFill>
            <a:srgbClr val="1A5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Foundation + 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2286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Lead intake, follow-up scheduler (3 email recipients), daily 7am cron job, basic dashboard, MAB CSV import, PWA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645920"/>
            <a:ext cx="26517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11880" y="1645920"/>
            <a:ext cx="2651760" cy="731520"/>
          </a:xfrm>
          <a:prstGeom prst="roundRect">
            <a:avLst>
              <a:gd name="adj" fmla="val 3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60" y="1737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2011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Pipeline + Visibility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2560320"/>
            <a:ext cx="2286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Kanban board, stage change flow, manager dashboard, real-time activity feed, notification system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1645920"/>
            <a:ext cx="26517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92240" y="1645920"/>
            <a:ext cx="2651760" cy="731520"/>
          </a:xfrm>
          <a:prstGeom prst="roundRect">
            <a:avLst>
              <a:gd name="adj" fmla="val 3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1737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011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Team + Qualification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560320"/>
            <a:ext cx="2286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Team management, lead assignment, qualification fields, quick capture, meeting prep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72600" y="1645920"/>
            <a:ext cx="26517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372600" y="1645920"/>
            <a:ext cx="2651760" cy="731520"/>
          </a:xfrm>
          <a:prstGeom prst="roundRect">
            <a:avLst>
              <a:gd name="adj" fmla="val 3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55480" y="1737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55480" y="2011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Reports + Polish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2560320"/>
            <a:ext cx="2286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KPI reports, leaderboard, export, onboarding wizard, edge cases, audit log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Future: CRM Graduation → Supabase/Postgres, email integration, calendar sync, automated workflows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6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MALLARD CONNECT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2926080"/>
            <a:ext cx="210312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59E0B"/>
                </a:solidFill>
                <a:latin typeface="Calibri"/>
              </a:defRPr>
            </a:pPr>
            <a:r>
              <a:t>No prospect falls through the cracks.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DB3B0"/>
                </a:solidFill>
                <a:latin typeface="Calibri"/>
              </a:defRPr>
            </a:pPr>
            <a:r>
              <a:t>Designed for Mallard Mortgages  |  Built by Storyboard Digital  |  Sheffield, UK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A8A88"/>
                </a:solidFill>
                <a:latin typeface="Calibri"/>
              </a:defRPr>
            </a:pPr>
            <a:r>
              <a:t>UI Mockups: pencil-welcome-desktop.pen  |  10 screens across desktop &amp; mobile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