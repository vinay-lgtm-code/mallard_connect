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5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MALLARD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59E0B"/>
                </a:solidFill>
                <a:latin typeface="Calibri"/>
              </a:defRPr>
            </a:pPr>
            <a:r>
              <a:t>Lead Nurturing &amp; Follow-up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 lightweight pre-CRM that ensures no prospect falls through the cracks.</a:t>
            </a:r>
            <a:br/>
            <a:r>
              <a:t>Works alongside the Mortgage Advice Bureau Platform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08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DB3B0"/>
                </a:solidFill>
                <a:latin typeface="Calibri"/>
              </a:defRPr>
            </a:pPr>
            <a:r>
              <a:t>Mallard Mortgages, Sheffield 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6692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DB3B0"/>
                </a:solidFill>
                <a:latin typeface="Calibri"/>
              </a:defRPr>
            </a:pPr>
            <a:r>
              <a:t>Built by Storyboard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53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1A"/>
                </a:solidFill>
                <a:latin typeface="Calibri"/>
              </a:defRPr>
            </a:pPr>
            <a:r>
              <a:t>Prospects who enquire but aren't ready to proceed are falling through the cracks.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17520"/>
            <a:ext cx="54864" cy="7315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017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No structured follow-up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37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Advisers note "contact in January" but there's no system to make it happen.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5486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114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No pipeline 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Della can't see at a glance where each prospect sits or what the next action should be.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212080"/>
            <a:ext cx="54864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5212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CRM is overkill (for now)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5532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full CRM is too expensive and complex. They need something that works with what they have.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45920"/>
            <a:ext cx="4846320" cy="4389120"/>
          </a:xfrm>
          <a:prstGeom prst="roundRect">
            <a:avLst>
              <a:gd name="adj" fmla="val 3000"/>
            </a:avLst>
          </a:prstGeom>
          <a:solidFill>
            <a:srgbClr val="F0FDF4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9202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66534"/>
                </a:solidFill>
                <a:latin typeface="Calibri"/>
              </a:defRPr>
            </a:pPr>
            <a:r>
              <a:t>The Solution: Mallard 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46888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66534"/>
                </a:solidFill>
                <a:latin typeface="Calibri"/>
              </a:defRPr>
            </a:pPr>
            <a:r>
              <a:t>  Structured follow-up reminders with email notifications to up to 3 recipients</a:t>
            </a:r>
          </a:p>
          <a:p>
            <a:pPr>
              <a:spcAft>
                <a:spcPts val="600"/>
              </a:spcAft>
              <a:defRPr sz="1300">
                <a:solidFill>
                  <a:srgbClr val="166534"/>
                </a:solidFill>
                <a:latin typeface="Calibri"/>
              </a:defRPr>
            </a:pPr>
            <a:r>
              <a:t>  Visual pipeline board showing every prospect's status at a glance</a:t>
            </a:r>
          </a:p>
          <a:p>
            <a:pPr>
              <a:spcAft>
                <a:spcPts val="600"/>
              </a:spcAft>
              <a:defRPr sz="1300">
                <a:solidFill>
                  <a:srgbClr val="166534"/>
                </a:solidFill>
                <a:latin typeface="Calibri"/>
              </a:defRPr>
            </a:pPr>
            <a:r>
              <a:t>  Daily 7am reminder emails so no lead is ever forgotten</a:t>
            </a:r>
          </a:p>
          <a:p>
            <a:pPr>
              <a:spcAft>
                <a:spcPts val="600"/>
              </a:spcAft>
              <a:defRPr sz="1300">
                <a:solidFill>
                  <a:srgbClr val="166534"/>
                </a:solidFill>
                <a:latin typeface="Calibri"/>
              </a:defRPr>
            </a:pPr>
            <a:r>
              <a:t>  MAB Platform CSV import with automatic deduplication</a:t>
            </a:r>
          </a:p>
          <a:p>
            <a:pPr>
              <a:spcAft>
                <a:spcPts val="600"/>
              </a:spcAft>
              <a:defRPr sz="1300">
                <a:solidFill>
                  <a:srgbClr val="166534"/>
                </a:solidFill>
                <a:latin typeface="Calibri"/>
              </a:defRPr>
            </a:pPr>
            <a:r>
              <a:t>  Mobile-optimized for salespeople in the field</a:t>
            </a:r>
          </a:p>
          <a:p>
            <a:pPr>
              <a:spcAft>
                <a:spcPts val="600"/>
              </a:spcAft>
              <a:defRPr sz="1300">
                <a:solidFill>
                  <a:srgbClr val="166534"/>
                </a:solidFill>
                <a:latin typeface="Calibri"/>
              </a:defRPr>
            </a:pPr>
            <a:r>
              <a:t>  Real-time team dashboard for Della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53"/>
                </a:solidFill>
                <a:latin typeface="Calibri"/>
              </a:defRPr>
            </a:pPr>
            <a:r>
              <a:t>Three Personas, One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A5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57400" y="1920240"/>
            <a:ext cx="914400" cy="914400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5740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Della Mallard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91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Calibri"/>
              </a:defRPr>
            </a:pPr>
            <a:r>
              <a:t>Owner /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39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Sees everything at a glance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Pipeline health &amp; team performance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Assigns and rebalances leads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Imports from MAB Platform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Reports and KPIs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645920"/>
            <a:ext cx="3200400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1920240"/>
            <a:ext cx="91440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6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9260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Office Salespeople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291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Calibri"/>
              </a:defRPr>
            </a:pPr>
            <a:r>
              <a:t>Desktop / Laptop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749039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Structured daily follow-up list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Fast lead capture (&lt;60 seconds)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Qualification workflow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Activity logging with reminders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Prospect detail with full timeline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45920"/>
            <a:ext cx="3200400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89720" y="1920240"/>
            <a:ext cx="914400" cy="9144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9260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Field Salespeople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Calibri"/>
              </a:defRPr>
            </a:pPr>
            <a:r>
              <a:t>Mobile / On the 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749039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15-second Quick Capture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Pre-meeting client review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Pipeline check between appointments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Tap-to-call from follow-up cards</a:t>
            </a:r>
          </a:p>
          <a:p>
            <a:pPr>
              <a:spcAft>
                <a:spcPts val="6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  Push notifications with quick actions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53"/>
                </a:solidFill>
                <a:latin typeface="Calibri"/>
              </a:defRPr>
            </a:pPr>
            <a:r>
              <a:t>Pipeline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UK mortgage nurture process, designed around Mallard's specific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E0E7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338CA"/>
                </a:solidFill>
                <a:latin typeface="Calibri"/>
              </a:defRPr>
            </a:pPr>
            <a:r>
              <a:t>New</a:t>
            </a:r>
            <a:br/>
            <a:r>
              <a:t>Enquiry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338C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Calibri"/>
              </a:defRPr>
            </a:pPr>
            <a:r>
              <a:t>Initial</a:t>
            </a:r>
            <a:br/>
            <a: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D4ED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2400E"/>
                </a:solidFill>
                <a:latin typeface="Calibri"/>
              </a:defRPr>
            </a:pPr>
            <a:r>
              <a:t>Not Ready</a:t>
            </a:r>
            <a:br/>
            <a:r>
              <a:t>Yet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92400E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66534"/>
                </a:solidFill>
                <a:latin typeface="Calibri"/>
              </a:defRPr>
            </a:pPr>
            <a:r>
              <a:t>Nurturing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66534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Calibri"/>
              </a:defRPr>
            </a:pPr>
            <a:r>
              <a:t>Ready to</a:t>
            </a:r>
            <a:br/>
            <a:r>
              <a:t>Proceed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D4ED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2668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Referred</a:t>
            </a:r>
            <a:br/>
            <a:r>
              <a:t>to MAB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C3AED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2C55E"/>
                </a:solidFill>
                <a:latin typeface="Calibri"/>
              </a:defRPr>
            </a:pPr>
            <a:r>
              <a:t>Won /</a:t>
            </a:r>
            <a:br/>
            <a:r>
              <a:t>Completed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78440" y="2880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561320" y="2286000"/>
            <a:ext cx="1234440" cy="16459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2468880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2626"/>
                </a:solidFill>
                <a:latin typeface="Calibri"/>
              </a:defRPr>
            </a:pPr>
            <a:r>
              <a:t>Lost /</a:t>
            </a:r>
            <a:br/>
            <a:r>
              <a:t>Gone Cold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320040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C2626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4297680"/>
            <a:ext cx="6858000" cy="1097280"/>
          </a:xfrm>
          <a:prstGeom prst="roundRect">
            <a:avLst>
              <a:gd name="adj" fmla="val 30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434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2400E"/>
                </a:solidFill>
                <a:latin typeface="Calibri"/>
              </a:defRPr>
            </a:pPr>
            <a:r>
              <a:t>"Not Ready Yet" is a first-class stage — not an afterthought.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4800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2400E"/>
                </a:solidFill>
                <a:latin typeface="Calibri"/>
              </a:defRPr>
            </a:pPr>
            <a:r>
              <a:t>This is where Mallard's leads currently fall through cracks. The system highlights it with amber borders, prominent follow-up scheduling, and supports 6-12 month reminder cycles.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Manager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Della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Della sees everything at a glance — pipeline health, team performance, and which leads need attention.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4 KPI cards: New Leads, Follow-ups Due, Overdue, Deals Closed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Pipeline Health horizontal bar chart across all active stages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Team Activity live feed — calls logged, stages changed, leads created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Real-time updates via Firestore onSnapshot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Full sidebar navigation with manager-level sections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In control within 30 seconds of opening the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303520" cy="329184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17320"/>
            <a:ext cx="521208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00PCT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00PCT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Manager Dashboard — Mobile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Della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Same data optimized for Della's phone. Check team status on the 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Compact KPI pills: New leads, Overdue, Due today, Won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Team Scorecard — avatar + stats per salesperson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Condensed activity feed with color-coded dots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Bottom tab nav with Dashboard active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FAB button for quick actions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097280"/>
            <a:ext cx="2286000" cy="49377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210312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A1A1A"/>
                </a:solidFill>
                <a:latin typeface="Calibri"/>
              </a:defRPr>
            </a:pPr>
            <a:r>
              <a:t>9:41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126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bO6Pj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bO6Pj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Pipeline Board — Kanban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Della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Drag-and-drop Kanban board with 6 visible stage columns. Bird's-eye view of all prospects.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6 color-coded stage columns: New Enquiry → Referred to MAB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"Not Ready Yet" column highlighted with amber border — the key stage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Prospect cards show: name, type, assigned avatar, time context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Overdue badges in red on cards that need attention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Filter and search in the toolbar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47 total leads with per-stage count badges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303520" cy="329184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17320"/>
            <a:ext cx="521208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yuS5D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yuS5D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"My Day"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Salesperson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The salesperson's home screen. Clear daily priorities with no ambiguity.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Personalised greeting with motivational nudge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Today's Follow-ups — cards with name, phone, context blurb, status badges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Status badges: Overdue (red), Due today (amber), Planned (blue)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My Pipeline summary — stage counts at a glance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New Assignments — leads Della has assigned with context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Focused on what to do right 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303520" cy="329184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17320"/>
            <a:ext cx="521208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xLorR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xLorR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"My Day" — Mobile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Salesperson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Single-column, follow-up focused. Everything works with one hand between appointments.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3 follow-up cards with avatar, name, phone number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Status badges: Overdue, Due today, Planned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Context blurb for each prospect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Call and Snooze action buttons on overdue cards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Bottom tab nav: My Day, Pipeline, +, Prospects, More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FAB button for instant new lead capture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097280"/>
            <a:ext cx="2286000" cy="49377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210312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A1A1A"/>
                </a:solidFill>
                <a:latin typeface="Calibri"/>
              </a:defRPr>
            </a:pPr>
            <a:r>
              <a:t>9:41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126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S14Wd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S14Wd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New Lead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Salesperson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Two-column layout for capturing leads in under 60 seconds. The core data entry 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Left: Contact details — name, phone, email, source, mortgage type, readiness, notes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Right: Follow-up Reminder config — date, reason, up to 3 email recipients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Up to 3 email recipients — ensures the right people get the reminder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Reminder note — context to include in the email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Smart defaults for follow-up dates based on readiness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Save Lead button creates the lead + schedules the reminder in one 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303520" cy="329184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17320"/>
            <a:ext cx="521208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oluoT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oluoT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Quick Capture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Field Sales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15-second lead capture for networking events and in-person referrals. Minimal friction.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Only 2 required fields: Name and Phone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Quick Note textarea for context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Type tags — tap to select: First-time buyer, Remortgage, Self-employed, etc.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Save button in header for one-tap completion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Designed for capture while the conversation is still fresh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Full details can be added later on desktop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097280"/>
            <a:ext cx="2286000" cy="49377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210312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A1A1A"/>
                </a:solidFill>
                <a:latin typeface="Calibri"/>
              </a:defRPr>
            </a:pPr>
            <a:r>
              <a:t>9:41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126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gJmkX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gJmkX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Prospect Detail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Salesperson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Full prospect view with contact info, follow-up schedule, and activity timeline.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Header: avatar, name, tappable stage badge, meta info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Action buttons: Call, Email, Log Activity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Tabs: Overview, Notes &amp; Activity, Qualification, Follow-ups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Contact Information card with all key fields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Next Follow-up card highlighted in amber — never missed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Activity Timeline with color-coded dots and full context 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303520" cy="329184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17320"/>
            <a:ext cx="521208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CHnFT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CHnFT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Pipeline List — Mobile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Field Sales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Mobile-optimized pipeline view. Horizontal stage pills for quick filtering.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Horizontal stage pills — tap to filter by stage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"Not Ready Yet" selected, showing 12 leads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Prospect cards with avatar, name, type summary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Color-coded badges: Overdue, Due today, scheduled date, On track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Bottom nav with Pipeline tab active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Quick access to prospect detail via card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097280"/>
            <a:ext cx="2286000" cy="49377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210312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A1A1A"/>
                </a:solidFill>
                <a:latin typeface="Calibri"/>
              </a:defRPr>
            </a:pPr>
            <a:r>
              <a:t>9:41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126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xNuto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xNuto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5653"/>
                </a:solidFill>
                <a:latin typeface="Calibri"/>
              </a:defRPr>
            </a:pPr>
            <a:r>
              <a:t>MAB Platform Import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60120"/>
            <a:ext cx="1463040" cy="32004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Della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960120"/>
            <a:ext cx="1097280" cy="320040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960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280"/>
                </a:solidFill>
                <a:latin typeface="Calibri"/>
              </a:defRPr>
            </a:pPr>
            <a:r>
              <a:t>Bridge to the existing system. CSV/XLS upload with automatic column mapping and deduplication.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Drag-and-drop upload area with file confirmation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Auto column mapping: MAB columns → Mallard Connect fields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Deduplication preview with 3 color-coded buckets: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    Green (42) — New leads, will be created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    Amber (8) — Duplicates, will be skipped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    Blue (3) — Duplicates with newer data, merge toggles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Column mapper remembers last mapping</a:t>
            </a:r>
          </a:p>
          <a:p>
            <a:pPr>
              <a:spcAft>
                <a:spcPts val="600"/>
              </a:spcAft>
              <a:defRPr sz="1400">
                <a:solidFill>
                  <a:srgbClr val="6B7280"/>
                </a:solidFill>
                <a:latin typeface="Calibri"/>
              </a:defRPr>
            </a:pPr>
            <a:r>
              <a:t>  Phone normalization handles +44 prefix and spacing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5303520" cy="329184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254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17320"/>
            <a:ext cx="521208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Screen: oaR0H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Design: pencil-welcome-desktop.pen  |  Node: oaR0H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53"/>
                </a:solidFill>
                <a:latin typeface="Calibri"/>
              </a:defRPr>
            </a:pPr>
            <a:r>
              <a:t>Core Feature: Follow-up Reminders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The single most important feature. This is what Mallard Connect exists to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2286000"/>
            <a:ext cx="731520" cy="731520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423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Set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Smart defaults based</a:t>
            </a:r>
            <a:br/>
            <a:r>
              <a:t>on readiness level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2286000"/>
            <a:ext cx="73152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423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00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Add Recipients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566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Up to 3 email addresses</a:t>
            </a:r>
            <a:br/>
            <a:r>
              <a:t>who should be notified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2286000"/>
            <a:ext cx="73152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423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00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Write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566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Client situation blurb</a:t>
            </a:r>
            <a:br/>
            <a:r>
              <a:t>included in the 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2286000"/>
            <a:ext cx="73152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2423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7am Daily Cron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566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Vercel Cron + Resend</a:t>
            </a:r>
            <a:br/>
            <a:r>
              <a:t>sends reminders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2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2286000"/>
            <a:ext cx="73152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2423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200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1A"/>
                </a:solidFill>
                <a:latin typeface="Calibri"/>
              </a:defRPr>
            </a:pPr>
            <a:r>
              <a:t>Act on Reminder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566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Email with client details</a:t>
            </a:r>
            <a:br/>
            <a:r>
              <a:t>+ deep link to 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389120"/>
            <a:ext cx="10332720" cy="1371600"/>
          </a:xfrm>
          <a:prstGeom prst="roundRect">
            <a:avLst>
              <a:gd name="adj" fmla="val 30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2400E"/>
                </a:solidFill>
                <a:latin typeface="Calibri"/>
              </a:defRPr>
            </a:pPr>
            <a:r>
              <a:t>Why this matters: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9377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2400E"/>
                </a:solidFill>
                <a:latin typeface="Calibri"/>
              </a:defRPr>
            </a:pPr>
            <a:r>
              <a:t>The reminder email includes enough context that the salesperson can act without opening the app — client name, phone, situation summary, and a deep link to the prospect detail. Long nurture cycles (6-12 months) are normal in UK mortgage — the system handles them gracefully.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53"/>
                </a:solidFill>
                <a:latin typeface="Calibri"/>
              </a:defRPr>
            </a:pPr>
            <a:r>
              <a:t>Tech Stack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719072"/>
            <a:ext cx="137160" cy="137160"/>
          </a:xfrm>
          <a:prstGeom prst="rect">
            <a:avLst/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Next.js 14+ (App Router, TypeScript)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96312"/>
            <a:ext cx="13716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Firebase Firestore (NoSQL, real-time sync)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73552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Firebase Auth (email/password, magic link)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137160" cy="137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977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Resend (transactional reminders, invites)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828032"/>
            <a:ext cx="13716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Cron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Vercel Cron (daily 7am UK reminder job)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719072"/>
            <a:ext cx="137160" cy="137160"/>
          </a:xfrm>
          <a:prstGeom prst="rect">
            <a:avLst/>
          </a:prstGeom>
          <a:solidFill>
            <a:srgbClr val="2D7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Tailwind CSS + shadcn/ui + KokonutUI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496312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Hosting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697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Vercel (Next.js optimized, preview deploys)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273552"/>
            <a:ext cx="137160" cy="137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Zod (shared client/server schemas)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050792"/>
            <a:ext cx="13716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977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251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Firestore onSnapshot (no extra WebSocket infra)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28032"/>
            <a:ext cx="13716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Import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SheetJS/xlsx (CSV/XLS parsing)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486400"/>
            <a:ext cx="10332720" cy="365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Migration path: Firebase → Supabase/Postgres when Mallard is ready for a full CRM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5653"/>
                </a:solidFill>
                <a:latin typeface="Calibri"/>
              </a:defRPr>
            </a:pPr>
            <a:r>
              <a:t>Phased Delivery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6517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A5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651760" cy="731520"/>
          </a:xfrm>
          <a:prstGeom prst="roundRect">
            <a:avLst>
              <a:gd name="adj" fmla="val 3000"/>
            </a:avLst>
          </a:prstGeom>
          <a:solidFill>
            <a:srgbClr val="1A5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Foundation +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Lead intake, follow-up scheduler (3 email recipients), daily 7am cron job, basic dashboard, MAB CSV import, PWA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645920"/>
            <a:ext cx="26517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11880" y="1645920"/>
            <a:ext cx="2651760" cy="731520"/>
          </a:xfrm>
          <a:prstGeom prst="roundRect">
            <a:avLst>
              <a:gd name="adj" fmla="val 3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Pipeline +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5603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Kanban board, stage change flow, manager dashboard, real-time activity feed, notification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645920"/>
            <a:ext cx="26517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1645920"/>
            <a:ext cx="2651760" cy="731520"/>
          </a:xfrm>
          <a:prstGeom prst="roundRect">
            <a:avLst>
              <a:gd name="adj" fmla="val 3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Team + Qualification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603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Team management, lead assignment, qualification fields, quick capture, meeting prep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1645920"/>
            <a:ext cx="26517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72600" y="1645920"/>
            <a:ext cx="2651760" cy="7315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Reports + Polish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5603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KPI reports, leaderboard, export, onboarding wizard, edge cases, audit 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Future: CRM Graduation → Supabase/Postgres, email integration, calendar sync, automated workflows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5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MALLARD 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59E0B"/>
                </a:solidFill>
                <a:latin typeface="Calibri"/>
              </a:defRPr>
            </a:pPr>
            <a:r>
              <a:t>No prospect falls through the cracks.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DB3B0"/>
                </a:solidFill>
                <a:latin typeface="Calibri"/>
              </a:defRPr>
            </a:pPr>
            <a:r>
              <a:t>Designed for Mallard Mortgages  |  Built by Storyboard Digital  |  Sheffield, 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8A88"/>
                </a:solidFill>
                <a:latin typeface="Calibri"/>
              </a:defRPr>
            </a:pPr>
            <a:r>
              <a:t>UI Mockups: pencil-welcome-desktop.pen  |  10 screens across desktop &amp;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